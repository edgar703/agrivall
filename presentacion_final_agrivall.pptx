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wide"/>
  <p:notesSz cx="6858000" cy="9144000"/>
  <p:defaultTextStyle>
    <a:defPPr>
      <a:defRPr lang="es-E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tock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  <p:sp>
        <p:nvSpPr>
          <p:cNvPr id="2" name="TextBox 2"/>
          <p:cNvSpPr txBox="1"/>
          <p:nvPr/>
        </p:nvSpPr>
        <p:spPr>
          <a:xfrm>
            <a:off x="650000" y="520000"/>
            <a:ext cx="7900000" cy="9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0000" tIns="70000" rIns="100000" bIns="70000"/>
          <a:lstStyle/>
          <a:p>
            <a:pPr algn="l">
              <a:buNone/>
            </a:pPr>
            <a:r>
              <a:rPr lang="es-ES" sz="4800" b="1">
                <a:solidFill>
                  <a:srgbClr val="12324a"/>
                </a:solidFill>
                <a:latin typeface="Aptos"/>
              </a:rPr>
              <a:t>Proyecto Agrivall</a:t>
            </a:r>
            <a:endParaRPr lang="es-ES" sz="4800"/>
          </a:p>
        </p:txBody>
      </p:sp>
      <p:sp>
        <p:nvSpPr>
          <p:cNvPr id="3" name="TextBox 3"/>
          <p:cNvSpPr txBox="1"/>
          <p:nvPr/>
        </p:nvSpPr>
        <p:spPr>
          <a:xfrm>
            <a:off x="680000" y="1370000"/>
            <a:ext cx="6500000" cy="65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0000" tIns="70000" rIns="100000" bIns="70000"/>
          <a:lstStyle/>
          <a:p>
            <a:pPr algn="l">
              <a:buNone/>
            </a:pPr>
            <a:r>
              <a:rPr lang="es-ES" sz="2400" b="0">
                <a:solidFill>
                  <a:srgbClr val="5b6b7f"/>
                </a:solidFill>
                <a:latin typeface="Aptos"/>
              </a:rPr>
              <a:t>Web funcional y responsive para venta de frutas, casa rural y blog</a:t>
            </a:r>
            <a:endParaRPr lang="es-ES" sz="24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0000" y="520000"/>
            <a:ext cx="2600000" cy="15000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720000" y="2500000"/>
            <a:ext cx="3300000" cy="115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1d6"/>
            </a:solidFill>
          </a:ln>
          <a:effectLst/>
        </p:spPr>
        <p:txBody>
          <a:bodyPr wrap="square" lIns="100000" tIns="70000" rIns="100000" bIns="70000"/>
          <a:lstStyle/>
          <a:p>
            <a:pPr algn="l" marL="260000" indent="-160000">
              <a:buChar char="•"/>
            </a:pPr>
            <a:r>
              <a:rPr lang="es-ES" sz="2200" b="0">
                <a:solidFill>
                  <a:srgbClr val="1f2937"/>
                </a:solidFill>
                <a:latin typeface="Aptos"/>
              </a:rPr>
              <a:t>Laravel + Blade</a:t>
            </a:r>
            <a:endParaRPr lang="es-ES" sz="2200"/>
          </a:p>
          <a:p>
            <a:pPr algn="l" marL="260000" indent="-160000">
              <a:buChar char="•"/>
            </a:pPr>
            <a:r>
              <a:rPr lang="es-ES" sz="2200" b="0">
                <a:solidFill>
                  <a:srgbClr val="1f2937"/>
                </a:solidFill>
                <a:latin typeface="Aptos"/>
              </a:rPr>
              <a:t>Front responsive con CSS propio</a:t>
            </a:r>
            <a:endParaRPr lang="es-ES" sz="2200"/>
          </a:p>
          <a:p>
            <a:pPr algn="l" marL="260000" indent="-160000">
              <a:buChar char="•"/>
            </a:pPr>
            <a:r>
              <a:rPr lang="es-ES" sz="2200" b="0">
                <a:solidFill>
                  <a:srgbClr val="1f2937"/>
                </a:solidFill>
                <a:latin typeface="Aptos"/>
              </a:rPr>
              <a:t>Backoffice con Bootstrap</a:t>
            </a:r>
            <a:endParaRPr lang="es-ES" sz="2200"/>
          </a:p>
        </p:txBody>
      </p:sp>
      <p:sp>
        <p:nvSpPr>
          <p:cNvPr id="6" name="TextBox 6"/>
          <p:cNvSpPr txBox="1"/>
          <p:nvPr/>
        </p:nvSpPr>
        <p:spPr>
          <a:xfrm>
            <a:off x="4400000" y="2500000"/>
            <a:ext cx="3300000" cy="115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1d6"/>
            </a:solidFill>
          </a:ln>
          <a:effectLst/>
        </p:spPr>
        <p:txBody>
          <a:bodyPr wrap="square" lIns="100000" tIns="70000" rIns="100000" bIns="70000"/>
          <a:lstStyle/>
          <a:p>
            <a:pPr algn="l" marL="260000" indent="-160000">
              <a:buChar char="•"/>
            </a:pPr>
            <a:r>
              <a:rPr lang="es-ES" sz="2200" b="0">
                <a:solidFill>
                  <a:srgbClr val="1f2937"/>
                </a:solidFill>
                <a:latin typeface="Aptos"/>
              </a:rPr>
              <a:t>Catálogo, carrito y pedidos</a:t>
            </a:r>
            <a:endParaRPr lang="es-ES" sz="2200"/>
          </a:p>
          <a:p>
            <a:pPr algn="l" marL="260000" indent="-160000">
              <a:buChar char="•"/>
            </a:pPr>
            <a:r>
              <a:rPr lang="es-ES" sz="2200" b="0">
                <a:solidFill>
                  <a:srgbClr val="1f2937"/>
                </a:solidFill>
                <a:latin typeface="Aptos"/>
              </a:rPr>
              <a:t>Reservas de casa rural</a:t>
            </a:r>
            <a:endParaRPr lang="es-ES" sz="2200"/>
          </a:p>
          <a:p>
            <a:pPr algn="l" marL="260000" indent="-160000">
              <a:buChar char="•"/>
            </a:pPr>
            <a:r>
              <a:rPr lang="es-ES" sz="2200" b="0">
                <a:solidFill>
                  <a:srgbClr val="1f2937"/>
                </a:solidFill>
                <a:latin typeface="Aptos"/>
              </a:rPr>
              <a:t>Blog de noticias</a:t>
            </a:r>
            <a:endParaRPr lang="es-ES" sz="2200"/>
          </a:p>
        </p:txBody>
      </p:sp>
      <p:sp>
        <p:nvSpPr>
          <p:cNvPr id="7" name="TextBox 7"/>
          <p:cNvSpPr txBox="1"/>
          <p:nvPr/>
        </p:nvSpPr>
        <p:spPr>
          <a:xfrm>
            <a:off x="8150000" y="2500000"/>
            <a:ext cx="3100000" cy="1150000"/>
          </a:xfrm>
          <a:prstGeom prst="roundRect">
            <a:avLst/>
          </a:prstGeom>
          <a:solidFill>
            <a:srgbClr val="fff8ec"/>
          </a:solidFill>
          <a:ln w="12000">
            <a:solidFill>
              <a:srgbClr val="ead9bd"/>
            </a:solidFill>
          </a:ln>
          <a:effectLst/>
        </p:spPr>
        <p:txBody>
          <a:bodyPr wrap="square" lIns="100000" tIns="70000" rIns="100000" bIns="70000"/>
          <a:lstStyle/>
          <a:p>
            <a:pPr algn="l">
              <a:buNone/>
            </a:pPr>
            <a:r>
              <a:rPr lang="es-ES" sz="2200" b="0">
                <a:solidFill>
                  <a:srgbClr val="1f2937"/>
                </a:solidFill>
                <a:latin typeface="Aptos"/>
              </a:rPr>
              <a:t>Objetivo del sprint: entregar una versión completa o parcialmente funcional, alojable y usable.</a:t>
            </a:r>
            <a:endParaRPr lang="es-ES"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  <p:sp>
        <p:nvSpPr>
          <p:cNvPr id="2" name="TextBox 2"/>
          <p:cNvSpPr txBox="1"/>
          <p:nvPr/>
        </p:nvSpPr>
        <p:spPr>
          <a:xfrm>
            <a:off x="600000" y="380000"/>
            <a:ext cx="9000000" cy="6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0000" tIns="70000" rIns="100000" bIns="70000"/>
          <a:lstStyle/>
          <a:p>
            <a:pPr algn="l">
              <a:buNone/>
            </a:pPr>
            <a:r>
              <a:rPr lang="es-ES" sz="4000" b="1">
                <a:solidFill>
                  <a:srgbClr val="12324a"/>
                </a:solidFill>
                <a:latin typeface="Aptos"/>
              </a:rPr>
              <a:t>Fases del desarrollo</a:t>
            </a:r>
            <a:endParaRPr lang="es-ES" sz="4000"/>
          </a:p>
        </p:txBody>
      </p:sp>
      <p:sp>
        <p:nvSpPr>
          <p:cNvPr id="10" name="TextBox 10"/>
          <p:cNvSpPr txBox="1"/>
          <p:nvPr/>
        </p:nvSpPr>
        <p:spPr>
          <a:xfrm>
            <a:off x="550000" y="1500000"/>
            <a:ext cx="1950000" cy="310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6dfd2"/>
            </a:solidFill>
          </a:ln>
          <a:effectLst/>
        </p:spPr>
        <p:txBody>
          <a:bodyPr wrap="square" lIns="100000" tIns="70000" rIns="100000" bIns="70000"/>
          <a:lstStyle/>
          <a:p>
            <a:pPr algn="l">
              <a:buNone/>
            </a:pPr>
            <a:r>
              <a:rPr lang="es-ES" sz="1700" b="0">
                <a:solidFill>
                  <a:srgbClr val="1f2937"/>
                </a:solidFill>
                <a:latin typeface="Aptos"/>
              </a:rPr>
              <a:t>1. Toma de requisitos</a:t>
            </a:r>
            <a:endParaRPr lang="es-ES" sz="1700"/>
          </a:p>
          <a:p>
            <a:pPr algn="l">
              <a:buNone/>
            </a:pPr>
            <a:r>
              <a:rPr lang="es-ES" sz="1700" b="0">
                <a:solidFill>
                  <a:srgbClr val="1f2937"/>
                </a:solidFill>
                <a:latin typeface="Aptos"/>
              </a:rPr>
              <a:t>Análisis del sprint: front completo, bloques A/B/C, responsive y hosting.</a:t>
            </a:r>
            <a:endParaRPr lang="es-ES" sz="1700"/>
          </a:p>
        </p:txBody>
      </p:sp>
      <p:sp>
        <p:nvSpPr>
          <p:cNvPr id="11" name="TextBox 11"/>
          <p:cNvSpPr txBox="1"/>
          <p:nvPr/>
        </p:nvSpPr>
        <p:spPr>
          <a:xfrm>
            <a:off x="2850000" y="1500000"/>
            <a:ext cx="1950000" cy="310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6dfd2"/>
            </a:solidFill>
          </a:ln>
          <a:effectLst/>
        </p:spPr>
        <p:txBody>
          <a:bodyPr wrap="square" lIns="100000" tIns="70000" rIns="100000" bIns="70000"/>
          <a:lstStyle/>
          <a:p>
            <a:pPr algn="l">
              <a:buNone/>
            </a:pPr>
            <a:r>
              <a:rPr lang="es-ES" sz="1700" b="0">
                <a:solidFill>
                  <a:srgbClr val="1f2937"/>
                </a:solidFill>
                <a:latin typeface="Aptos"/>
              </a:rPr>
              <a:t>2. Diseño previo</a:t>
            </a:r>
            <a:endParaRPr lang="es-ES" sz="1700"/>
          </a:p>
          <a:p>
            <a:pPr algn="l">
              <a:buNone/>
            </a:pPr>
            <a:r>
              <a:rPr lang="es-ES" sz="1700" b="0">
                <a:solidFill>
                  <a:srgbClr val="1f2937"/>
                </a:solidFill>
                <a:latin typeface="Aptos"/>
              </a:rPr>
              <a:t>Estructura de páginas, rutas, base de datos y separación front/backoffice.</a:t>
            </a:r>
            <a:endParaRPr lang="es-ES" sz="1700"/>
          </a:p>
        </p:txBody>
      </p:sp>
      <p:sp>
        <p:nvSpPr>
          <p:cNvPr id="12" name="TextBox 12"/>
          <p:cNvSpPr txBox="1"/>
          <p:nvPr/>
        </p:nvSpPr>
        <p:spPr>
          <a:xfrm>
            <a:off x="5150000" y="1500000"/>
            <a:ext cx="1950000" cy="310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6dfd2"/>
            </a:solidFill>
          </a:ln>
          <a:effectLst/>
        </p:spPr>
        <p:txBody>
          <a:bodyPr wrap="square" lIns="100000" tIns="70000" rIns="100000" bIns="70000"/>
          <a:lstStyle/>
          <a:p>
            <a:pPr algn="l">
              <a:buNone/>
            </a:pPr>
            <a:r>
              <a:rPr lang="es-ES" sz="1700" b="0">
                <a:solidFill>
                  <a:srgbClr val="1f2937"/>
                </a:solidFill>
                <a:latin typeface="Aptos"/>
              </a:rPr>
              <a:t>3. Desarrollo</a:t>
            </a:r>
            <a:endParaRPr lang="es-ES" sz="1700"/>
          </a:p>
          <a:p>
            <a:pPr algn="l">
              <a:buNone/>
            </a:pPr>
            <a:r>
              <a:rPr lang="es-ES" sz="1700" b="0">
                <a:solidFill>
                  <a:srgbClr val="1f2937"/>
                </a:solidFill>
                <a:latin typeface="Aptos"/>
              </a:rPr>
              <a:t>Productos, carrito, pedidos, reservas, blog, usuarios y panel admin.</a:t>
            </a:r>
            <a:endParaRPr lang="es-ES" sz="1700"/>
          </a:p>
        </p:txBody>
      </p:sp>
      <p:sp>
        <p:nvSpPr>
          <p:cNvPr id="13" name="TextBox 13"/>
          <p:cNvSpPr txBox="1"/>
          <p:nvPr/>
        </p:nvSpPr>
        <p:spPr>
          <a:xfrm>
            <a:off x="7450000" y="1500000"/>
            <a:ext cx="1950000" cy="310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6dfd2"/>
            </a:solidFill>
          </a:ln>
          <a:effectLst/>
        </p:spPr>
        <p:txBody>
          <a:bodyPr wrap="square" lIns="100000" tIns="70000" rIns="100000" bIns="70000"/>
          <a:lstStyle/>
          <a:p>
            <a:pPr algn="l">
              <a:buNone/>
            </a:pPr>
            <a:r>
              <a:rPr lang="es-ES" sz="1700" b="0">
                <a:solidFill>
                  <a:srgbClr val="1f2937"/>
                </a:solidFill>
                <a:latin typeface="Aptos"/>
              </a:rPr>
              <a:t>4. Pruebas y ajustes</a:t>
            </a:r>
            <a:endParaRPr lang="es-ES" sz="1700"/>
          </a:p>
          <a:p>
            <a:pPr algn="l">
              <a:buNone/>
            </a:pPr>
            <a:r>
              <a:rPr lang="es-ES" sz="1700" b="0">
                <a:solidFill>
                  <a:srgbClr val="1f2937"/>
                </a:solidFill>
                <a:latin typeface="Aptos"/>
              </a:rPr>
              <a:t>Revisión de navegación, formularios, roles, estados y experiencia de usuario.</a:t>
            </a:r>
            <a:endParaRPr lang="es-ES" sz="1700"/>
          </a:p>
        </p:txBody>
      </p:sp>
      <p:sp>
        <p:nvSpPr>
          <p:cNvPr id="14" name="TextBox 14"/>
          <p:cNvSpPr txBox="1"/>
          <p:nvPr/>
        </p:nvSpPr>
        <p:spPr>
          <a:xfrm>
            <a:off x="9750000" y="1500000"/>
            <a:ext cx="1950000" cy="310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6dfd2"/>
            </a:solidFill>
          </a:ln>
          <a:effectLst/>
        </p:spPr>
        <p:txBody>
          <a:bodyPr wrap="square" lIns="100000" tIns="70000" rIns="100000" bIns="70000"/>
          <a:lstStyle/>
          <a:p>
            <a:pPr algn="l">
              <a:buNone/>
            </a:pPr>
            <a:r>
              <a:rPr lang="es-ES" sz="1700" b="0">
                <a:solidFill>
                  <a:srgbClr val="1f2937"/>
                </a:solidFill>
                <a:latin typeface="Aptos"/>
              </a:rPr>
              <a:t>5. Responsive final</a:t>
            </a:r>
            <a:endParaRPr lang="es-ES" sz="1700"/>
          </a:p>
          <a:p>
            <a:pPr algn="l">
              <a:buNone/>
            </a:pPr>
            <a:r>
              <a:rPr lang="es-ES" sz="1700" b="0">
                <a:solidFill>
                  <a:srgbClr val="1f2937"/>
                </a:solidFill>
                <a:latin typeface="Aptos"/>
              </a:rPr>
              <a:t>Adaptación a móvil, tablet y escritorio con pruebas de tamaños.</a:t>
            </a:r>
            <a:endParaRPr lang="es-ES" sz="1700"/>
          </a:p>
        </p:txBody>
      </p:sp>
      <p:sp>
        <p:nvSpPr>
          <p:cNvPr id="20" name="TextBox 20"/>
          <p:cNvSpPr txBox="1"/>
          <p:nvPr/>
        </p:nvSpPr>
        <p:spPr>
          <a:xfrm>
            <a:off x="780000" y="5550000"/>
            <a:ext cx="10600000" cy="460000"/>
          </a:xfrm>
          <a:prstGeom prst="roundRect">
            <a:avLst/>
          </a:prstGeom>
          <a:solidFill>
            <a:srgbClr val="eef7ed"/>
          </a:solidFill>
          <a:ln w="12000">
            <a:solidFill>
              <a:srgbClr val="cae2c6"/>
            </a:solidFill>
          </a:ln>
          <a:effectLst/>
        </p:spPr>
        <p:txBody>
          <a:bodyPr wrap="square" lIns="100000" tIns="70000" rIns="100000" bIns="70000"/>
          <a:lstStyle/>
          <a:p>
            <a:pPr algn="l">
              <a:buNone/>
            </a:pPr>
            <a:r>
              <a:rPr lang="es-ES" sz="2200" b="1">
                <a:solidFill>
                  <a:srgbClr val="3f7f4a"/>
                </a:solidFill>
                <a:latin typeface="Aptos"/>
              </a:rPr>
              <a:t>Idea clave: desde requisitos reales hasta una web navegable, administrable y adaptable.</a:t>
            </a:r>
            <a:endParaRPr lang="es-ES"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  <p:sp>
        <p:nvSpPr>
          <p:cNvPr id="2" name="TextBox 2"/>
          <p:cNvSpPr txBox="1"/>
          <p:nvPr/>
        </p:nvSpPr>
        <p:spPr>
          <a:xfrm>
            <a:off x="600000" y="380000"/>
            <a:ext cx="9000000" cy="6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0000" tIns="70000" rIns="100000" bIns="70000"/>
          <a:lstStyle/>
          <a:p>
            <a:pPr algn="l">
              <a:buNone/>
            </a:pPr>
            <a:r>
              <a:rPr lang="es-ES" sz="4000" b="1">
                <a:solidFill>
                  <a:srgbClr val="12324a"/>
                </a:solidFill>
                <a:latin typeface="Aptos"/>
              </a:rPr>
              <a:t>Funcionalidades implementadas</a:t>
            </a:r>
            <a:endParaRPr lang="es-ES" sz="4000"/>
          </a:p>
        </p:txBody>
      </p:sp>
      <p:sp>
        <p:nvSpPr>
          <p:cNvPr id="10" name="TextBox 10"/>
          <p:cNvSpPr txBox="1"/>
          <p:nvPr/>
        </p:nvSpPr>
        <p:spPr>
          <a:xfrm>
            <a:off x="700000" y="1370000"/>
            <a:ext cx="3150000" cy="560000"/>
          </a:xfrm>
          <a:prstGeom prst="roundRect">
            <a:avLst/>
          </a:prstGeom>
          <a:solidFill>
            <a:srgbClr val="3f7f4a"/>
          </a:solidFill>
          <a:ln>
            <a:noFill/>
          </a:ln>
          <a:effectLst/>
        </p:spPr>
        <p:txBody>
          <a:bodyPr wrap="square" lIns="100000" tIns="70000" rIns="100000" bIns="70000"/>
          <a:lstStyle/>
          <a:p>
            <a:pPr algn="l">
              <a:buNone/>
            </a:pPr>
            <a:r>
              <a:rPr lang="es-ES" sz="2600" b="1">
                <a:solidFill>
                  <a:srgbClr val="ffffff"/>
                </a:solidFill>
                <a:latin typeface="Aptos"/>
              </a:rPr>
              <a:t>Venta de frutas</a:t>
            </a:r>
            <a:endParaRPr lang="es-ES" sz="2600"/>
          </a:p>
        </p:txBody>
      </p:sp>
      <p:sp>
        <p:nvSpPr>
          <p:cNvPr id="20" name="TextBox 20"/>
          <p:cNvSpPr txBox="1"/>
          <p:nvPr/>
        </p:nvSpPr>
        <p:spPr>
          <a:xfrm>
            <a:off x="700000" y="1980000"/>
            <a:ext cx="3150000" cy="260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1d6"/>
            </a:solidFill>
          </a:ln>
          <a:effectLst/>
        </p:spPr>
        <p:txBody>
          <a:bodyPr wrap="square" lIns="100000" tIns="70000" rIns="100000" bIns="70000"/>
          <a:lstStyle/>
          <a:p>
            <a:pPr algn="l" marL="260000" indent="-160000">
              <a:buChar char="•"/>
            </a:pPr>
            <a:r>
              <a:rPr lang="es-ES" sz="2000" b="0">
                <a:solidFill>
                  <a:srgbClr val="1f2937"/>
                </a:solidFill>
                <a:latin typeface="Aptos"/>
              </a:rPr>
              <a:t>Catálogo público</a:t>
            </a:r>
            <a:endParaRPr lang="es-ES" sz="2000"/>
          </a:p>
          <a:p>
            <a:pPr algn="l" marL="260000" indent="-160000">
              <a:buChar char="•"/>
            </a:pPr>
            <a:r>
              <a:rPr lang="es-ES" sz="2000" b="0">
                <a:solidFill>
                  <a:srgbClr val="1f2937"/>
                </a:solidFill>
                <a:latin typeface="Aptos"/>
              </a:rPr>
              <a:t>Carrito de compra</a:t>
            </a:r>
            <a:endParaRPr lang="es-ES" sz="2000"/>
          </a:p>
          <a:p>
            <a:pPr algn="l" marL="260000" indent="-160000">
              <a:buChar char="•"/>
            </a:pPr>
            <a:r>
              <a:rPr lang="es-ES" sz="2000" b="0">
                <a:solidFill>
                  <a:srgbClr val="1f2937"/>
                </a:solidFill>
                <a:latin typeface="Aptos"/>
              </a:rPr>
              <a:t>Checkout y pedidos</a:t>
            </a:r>
            <a:endParaRPr lang="es-ES" sz="2000"/>
          </a:p>
          <a:p>
            <a:pPr algn="l" marL="260000" indent="-160000">
              <a:buChar char="•"/>
            </a:pPr>
            <a:r>
              <a:rPr lang="es-ES" sz="2000" b="0">
                <a:solidFill>
                  <a:srgbClr val="1f2937"/>
                </a:solidFill>
                <a:latin typeface="Aptos"/>
              </a:rPr>
              <a:t>Gestión admin de productos y pedidos</a:t>
            </a:r>
            <a:endParaRPr lang="es-ES" sz="2000"/>
          </a:p>
        </p:txBody>
      </p:sp>
      <p:sp>
        <p:nvSpPr>
          <p:cNvPr id="11" name="TextBox 11"/>
          <p:cNvSpPr txBox="1"/>
          <p:nvPr/>
        </p:nvSpPr>
        <p:spPr>
          <a:xfrm>
            <a:off x="4450000" y="1370000"/>
            <a:ext cx="3150000" cy="560000"/>
          </a:xfrm>
          <a:prstGeom prst="roundRect">
            <a:avLst/>
          </a:prstGeom>
          <a:solidFill>
            <a:srgbClr val="3f7f4a"/>
          </a:solidFill>
          <a:ln>
            <a:noFill/>
          </a:ln>
          <a:effectLst/>
        </p:spPr>
        <p:txBody>
          <a:bodyPr wrap="square" lIns="100000" tIns="70000" rIns="100000" bIns="70000"/>
          <a:lstStyle/>
          <a:p>
            <a:pPr algn="l">
              <a:buNone/>
            </a:pPr>
            <a:r>
              <a:rPr lang="es-ES" sz="2600" b="1">
                <a:solidFill>
                  <a:srgbClr val="ffffff"/>
                </a:solidFill>
                <a:latin typeface="Aptos"/>
              </a:rPr>
              <a:t>Casa rural</a:t>
            </a:r>
            <a:endParaRPr lang="es-ES" sz="2600"/>
          </a:p>
        </p:txBody>
      </p:sp>
      <p:sp>
        <p:nvSpPr>
          <p:cNvPr id="21" name="TextBox 21"/>
          <p:cNvSpPr txBox="1"/>
          <p:nvPr/>
        </p:nvSpPr>
        <p:spPr>
          <a:xfrm>
            <a:off x="4450000" y="1980000"/>
            <a:ext cx="3150000" cy="260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1d6"/>
            </a:solidFill>
          </a:ln>
          <a:effectLst/>
        </p:spPr>
        <p:txBody>
          <a:bodyPr wrap="square" lIns="100000" tIns="70000" rIns="100000" bIns="70000"/>
          <a:lstStyle/>
          <a:p>
            <a:pPr algn="l" marL="260000" indent="-160000">
              <a:buChar char="•"/>
            </a:pPr>
            <a:r>
              <a:rPr lang="es-ES" sz="2000" b="0">
                <a:solidFill>
                  <a:srgbClr val="1f2937"/>
                </a:solidFill>
                <a:latin typeface="Aptos"/>
              </a:rPr>
              <a:t>Página pública de reservas</a:t>
            </a:r>
            <a:endParaRPr lang="es-ES" sz="2000"/>
          </a:p>
          <a:p>
            <a:pPr algn="l" marL="260000" indent="-160000">
              <a:buChar char="•"/>
            </a:pPr>
            <a:r>
              <a:rPr lang="es-ES" sz="2000" b="0">
                <a:solidFill>
                  <a:srgbClr val="1f2937"/>
                </a:solidFill>
                <a:latin typeface="Aptos"/>
              </a:rPr>
              <a:t>Estados de reserva</a:t>
            </a:r>
            <a:endParaRPr lang="es-ES" sz="2000"/>
          </a:p>
          <a:p>
            <a:pPr algn="l" marL="260000" indent="-160000">
              <a:buChar char="•"/>
            </a:pPr>
            <a:r>
              <a:rPr lang="es-ES" sz="2000" b="0">
                <a:solidFill>
                  <a:srgbClr val="1f2937"/>
                </a:solidFill>
                <a:latin typeface="Aptos"/>
              </a:rPr>
              <a:t>Gestión desde backoffice</a:t>
            </a:r>
            <a:endParaRPr lang="es-ES" sz="2000"/>
          </a:p>
          <a:p>
            <a:pPr algn="l" marL="260000" indent="-160000">
              <a:buChar char="•"/>
            </a:pPr>
            <a:r>
              <a:rPr lang="es-ES" sz="2000" b="0">
                <a:solidFill>
                  <a:srgbClr val="1f2937"/>
                </a:solidFill>
                <a:latin typeface="Aptos"/>
              </a:rPr>
              <a:t>Comunicación con formularios</a:t>
            </a:r>
            <a:endParaRPr lang="es-ES" sz="2000"/>
          </a:p>
        </p:txBody>
      </p:sp>
      <p:sp>
        <p:nvSpPr>
          <p:cNvPr id="12" name="TextBox 12"/>
          <p:cNvSpPr txBox="1"/>
          <p:nvPr/>
        </p:nvSpPr>
        <p:spPr>
          <a:xfrm>
            <a:off x="8200000" y="1370000"/>
            <a:ext cx="3150000" cy="560000"/>
          </a:xfrm>
          <a:prstGeom prst="roundRect">
            <a:avLst/>
          </a:prstGeom>
          <a:solidFill>
            <a:srgbClr val="12324a"/>
          </a:solidFill>
          <a:ln>
            <a:noFill/>
          </a:ln>
          <a:effectLst/>
        </p:spPr>
        <p:txBody>
          <a:bodyPr wrap="square" lIns="100000" tIns="70000" rIns="100000" bIns="70000"/>
          <a:lstStyle/>
          <a:p>
            <a:pPr algn="l">
              <a:buNone/>
            </a:pPr>
            <a:r>
              <a:rPr lang="es-ES" sz="2600" b="1">
                <a:solidFill>
                  <a:srgbClr val="ffffff"/>
                </a:solidFill>
                <a:latin typeface="Aptos"/>
              </a:rPr>
              <a:t>Blog y usuarios</a:t>
            </a:r>
            <a:endParaRPr lang="es-ES" sz="2600"/>
          </a:p>
        </p:txBody>
      </p:sp>
      <p:sp>
        <p:nvSpPr>
          <p:cNvPr id="22" name="TextBox 22"/>
          <p:cNvSpPr txBox="1"/>
          <p:nvPr/>
        </p:nvSpPr>
        <p:spPr>
          <a:xfrm>
            <a:off x="8200000" y="1980000"/>
            <a:ext cx="3150000" cy="260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1d6"/>
            </a:solidFill>
          </a:ln>
          <a:effectLst/>
        </p:spPr>
        <p:txBody>
          <a:bodyPr wrap="square" lIns="100000" tIns="70000" rIns="100000" bIns="70000"/>
          <a:lstStyle/>
          <a:p>
            <a:pPr algn="l" marL="260000" indent="-160000">
              <a:buChar char="•"/>
            </a:pPr>
            <a:r>
              <a:rPr lang="es-ES" sz="2000" b="0">
                <a:solidFill>
                  <a:srgbClr val="1f2937"/>
                </a:solidFill>
                <a:latin typeface="Aptos"/>
              </a:rPr>
              <a:t>Noticias públicas</a:t>
            </a:r>
            <a:endParaRPr lang="es-ES" sz="2000"/>
          </a:p>
          <a:p>
            <a:pPr algn="l" marL="260000" indent="-160000">
              <a:buChar char="•"/>
            </a:pPr>
            <a:r>
              <a:rPr lang="es-ES" sz="2000" b="0">
                <a:solidFill>
                  <a:srgbClr val="1f2937"/>
                </a:solidFill>
                <a:latin typeface="Aptos"/>
              </a:rPr>
              <a:t>CRUD de posts</a:t>
            </a:r>
            <a:endParaRPr lang="es-ES" sz="2000"/>
          </a:p>
          <a:p>
            <a:pPr algn="l" marL="260000" indent="-160000">
              <a:buChar char="•"/>
            </a:pPr>
            <a:r>
              <a:rPr lang="es-ES" sz="2000" b="0">
                <a:solidFill>
                  <a:srgbClr val="1f2937"/>
                </a:solidFill>
                <a:latin typeface="Aptos"/>
              </a:rPr>
              <a:t>Comentarios autenticados</a:t>
            </a:r>
            <a:endParaRPr lang="es-ES" sz="2000"/>
          </a:p>
          <a:p>
            <a:pPr algn="l" marL="260000" indent="-160000">
              <a:buChar char="•"/>
            </a:pPr>
            <a:r>
              <a:rPr lang="es-ES" sz="2000" b="0">
                <a:solidFill>
                  <a:srgbClr val="1f2937"/>
                </a:solidFill>
                <a:latin typeface="Aptos"/>
              </a:rPr>
              <a:t>Login, registro y rol admin</a:t>
            </a:r>
            <a:endParaRPr lang="es-ES" sz="2000"/>
          </a:p>
        </p:txBody>
      </p:sp>
      <p:sp>
        <p:nvSpPr>
          <p:cNvPr id="30" name="TextBox 30"/>
          <p:cNvSpPr txBox="1"/>
          <p:nvPr/>
        </p:nvSpPr>
        <p:spPr>
          <a:xfrm>
            <a:off x="960000" y="5200000"/>
            <a:ext cx="9800000" cy="650000"/>
          </a:xfrm>
          <a:prstGeom prst="roundRect">
            <a:avLst/>
          </a:prstGeom>
          <a:solidFill>
            <a:srgbClr val="fff8ec"/>
          </a:solidFill>
          <a:ln w="12000">
            <a:solidFill>
              <a:srgbClr val="ead9bd"/>
            </a:solidFill>
          </a:ln>
          <a:effectLst/>
        </p:spPr>
        <p:txBody>
          <a:bodyPr wrap="square" lIns="100000" tIns="70000" rIns="100000" bIns="70000"/>
          <a:lstStyle/>
          <a:p>
            <a:pPr algn="l">
              <a:buNone/>
            </a:pPr>
            <a:r>
              <a:rPr lang="es-ES" sz="2400" b="1">
                <a:solidFill>
                  <a:srgbClr val="12324a"/>
                </a:solidFill>
                <a:latin typeface="Aptos"/>
              </a:rPr>
              <a:t>Resultado: parte pública para clientes y parte privada para administración.</a:t>
            </a:r>
            <a:endParaRPr lang="es-E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  <p:sp>
        <p:nvSpPr>
          <p:cNvPr id="2" name="TextBox 2"/>
          <p:cNvSpPr txBox="1"/>
          <p:nvPr/>
        </p:nvSpPr>
        <p:spPr>
          <a:xfrm>
            <a:off x="600000" y="380000"/>
            <a:ext cx="10000000" cy="6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0000" tIns="70000" rIns="100000" bIns="70000"/>
          <a:lstStyle/>
          <a:p>
            <a:pPr algn="l">
              <a:buNone/>
            </a:pPr>
            <a:r>
              <a:rPr lang="es-ES" sz="4000" b="1">
                <a:solidFill>
                  <a:srgbClr val="12324a"/>
                </a:solidFill>
                <a:latin typeface="Aptos"/>
              </a:rPr>
              <a:t>Responsive I: enfoque mobile first</a:t>
            </a:r>
            <a:endParaRPr lang="es-ES" sz="4000"/>
          </a:p>
        </p:txBody>
      </p:sp>
      <p:sp>
        <p:nvSpPr>
          <p:cNvPr id="3" name="TextBox 3"/>
          <p:cNvSpPr txBox="1"/>
          <p:nvPr/>
        </p:nvSpPr>
        <p:spPr>
          <a:xfrm>
            <a:off x="720000" y="1200000"/>
            <a:ext cx="6800000" cy="42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0000" tIns="70000" rIns="100000" bIns="70000"/>
          <a:lstStyle/>
          <a:p>
            <a:pPr algn="l">
              <a:buNone/>
            </a:pPr>
            <a:r>
              <a:rPr lang="es-ES" sz="2200" b="0">
                <a:solidFill>
                  <a:srgbClr val="5b6b7f"/>
                </a:solidFill>
                <a:latin typeface="Aptos"/>
              </a:rPr>
              <a:t>La clave es diseñar primero para pantallas pequeñas y después ampliar.</a:t>
            </a:r>
            <a:endParaRPr lang="es-ES" sz="2200"/>
          </a:p>
        </p:txBody>
      </p:sp>
      <p:sp>
        <p:nvSpPr>
          <p:cNvPr id="4" name="TextBox 4"/>
          <p:cNvSpPr txBox="1"/>
          <p:nvPr/>
        </p:nvSpPr>
        <p:spPr>
          <a:xfrm>
            <a:off x="780000" y="1950000"/>
            <a:ext cx="4650000" cy="230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1d6"/>
            </a:solidFill>
          </a:ln>
          <a:effectLst/>
        </p:spPr>
        <p:txBody>
          <a:bodyPr wrap="square" lIns="100000" tIns="70000" rIns="100000" bIns="70000"/>
          <a:lstStyle/>
          <a:p>
            <a:pPr algn="l" marL="260000" indent="-160000">
              <a:buChar char="•"/>
            </a:pPr>
            <a:r>
              <a:rPr lang="es-ES" sz="2200" b="0">
                <a:solidFill>
                  <a:srgbClr val="1f2937"/>
                </a:solidFill>
                <a:latin typeface="Aptos"/>
              </a:rPr>
              <a:t>Meta viewport para escala correcta</a:t>
            </a:r>
            <a:endParaRPr lang="es-ES" sz="2200"/>
          </a:p>
          <a:p>
            <a:pPr algn="l" marL="260000" indent="-160000">
              <a:buChar char="•"/>
            </a:pPr>
            <a:r>
              <a:rPr lang="es-ES" sz="2200" b="0">
                <a:solidFill>
                  <a:srgbClr val="1f2937"/>
                </a:solidFill>
                <a:latin typeface="Aptos"/>
              </a:rPr>
              <a:t>Una columna en móvil, varias en escritorio</a:t>
            </a:r>
            <a:endParaRPr lang="es-ES" sz="2200"/>
          </a:p>
          <a:p>
            <a:pPr algn="l" marL="260000" indent="-160000">
              <a:buChar char="•"/>
            </a:pPr>
            <a:r>
              <a:rPr lang="es-ES" sz="2200" b="0">
                <a:solidFill>
                  <a:srgbClr val="1f2937"/>
                </a:solidFill>
                <a:latin typeface="Aptos"/>
              </a:rPr>
              <a:t>Contenedores fluidos</a:t>
            </a:r>
            <a:endParaRPr lang="es-ES" sz="2200"/>
          </a:p>
          <a:p>
            <a:pPr algn="l" marL="260000" indent="-160000">
              <a:buChar char="•"/>
            </a:pPr>
            <a:r>
              <a:rPr lang="es-ES" sz="2200" b="0">
                <a:solidFill>
                  <a:srgbClr val="1f2937"/>
                </a:solidFill>
                <a:latin typeface="Aptos"/>
              </a:rPr>
              <a:t>Menús adaptables con botón hamburguesa</a:t>
            </a:r>
            <a:endParaRPr lang="es-ES" sz="2200"/>
          </a:p>
        </p:txBody>
      </p:sp>
      <p:sp>
        <p:nvSpPr>
          <p:cNvPr id="5" name="TextBox 5"/>
          <p:cNvSpPr txBox="1"/>
          <p:nvPr/>
        </p:nvSpPr>
        <p:spPr>
          <a:xfrm>
            <a:off x="6100000" y="1900000"/>
            <a:ext cx="4800000" cy="1600000"/>
          </a:xfrm>
          <a:prstGeom prst="roundRect">
            <a:avLst/>
          </a:prstGeom>
          <a:solidFill>
            <a:srgbClr val="12324a"/>
          </a:solidFill>
          <a:ln>
            <a:noFill/>
          </a:ln>
          <a:effectLst/>
        </p:spPr>
        <p:txBody>
          <a:bodyPr wrap="square" lIns="100000" tIns="70000" rIns="100000" bIns="70000"/>
          <a:lstStyle/>
          <a:p>
            <a:pPr algn="l">
              <a:buNone/>
            </a:pPr>
            <a:r>
              <a:rPr lang="es-ES" sz="2000" b="0">
                <a:solidFill>
                  <a:srgbClr val="ffffff"/>
                </a:solidFill>
                <a:latin typeface="Aptos"/>
              </a:rPr>
              <a:t>&lt;meta name="viewport"</a:t>
            </a:r>
            <a:endParaRPr lang="es-ES" sz="2000"/>
          </a:p>
          <a:p>
            <a:pPr algn="l">
              <a:buNone/>
            </a:pPr>
            <a:r>
              <a:rPr lang="es-ES" sz="2000" b="0">
                <a:solidFill>
                  <a:srgbClr val="ffffff"/>
                </a:solidFill>
                <a:latin typeface="Aptos"/>
              </a:rPr>
              <a:t> content="width=device-width,</a:t>
            </a:r>
            <a:endParaRPr lang="es-ES" sz="2000"/>
          </a:p>
          <a:p>
            <a:pPr algn="l">
              <a:buNone/>
            </a:pPr>
            <a:r>
              <a:rPr lang="es-ES" sz="2000" b="0">
                <a:solidFill>
                  <a:srgbClr val="ffffff"/>
                </a:solidFill>
                <a:latin typeface="Aptos"/>
              </a:rPr>
              <a:t> initial-scale=1"&gt;</a:t>
            </a:r>
            <a:endParaRPr lang="es-ES" sz="2000"/>
          </a:p>
          <a:p>
            <a:pPr algn="l">
              <a:buNone/>
            </a:pPr>
            <a:r>
              <a:rPr lang="es-ES" sz="2000" b="0">
                <a:solidFill>
                  <a:srgbClr val="ffffff"/>
                </a:solidFill>
                <a:latin typeface="Aptos"/>
              </a:rPr>
              <a:t/>
            </a:r>
            <a:endParaRPr lang="es-ES" sz="2000"/>
          </a:p>
          <a:p>
            <a:pPr algn="l">
              <a:buNone/>
            </a:pPr>
            <a:r>
              <a:rPr lang="es-ES" sz="2000" b="0">
                <a:solidFill>
                  <a:srgbClr val="ffffff"/>
                </a:solidFill>
                <a:latin typeface="Aptos"/>
              </a:rPr>
              <a:t>col-12 → col-md-6 → col-lg-4</a:t>
            </a:r>
            <a:endParaRPr lang="es-ES" sz="2000"/>
          </a:p>
        </p:txBody>
      </p:sp>
      <p:sp>
        <p:nvSpPr>
          <p:cNvPr id="6" name="TextBox 6"/>
          <p:cNvSpPr txBox="1"/>
          <p:nvPr/>
        </p:nvSpPr>
        <p:spPr>
          <a:xfrm>
            <a:off x="6100000" y="3900000"/>
            <a:ext cx="4800000" cy="1000000"/>
          </a:xfrm>
          <a:prstGeom prst="roundRect">
            <a:avLst/>
          </a:prstGeom>
          <a:solidFill>
            <a:srgbClr val="eef7ed"/>
          </a:solidFill>
          <a:ln w="12000">
            <a:solidFill>
              <a:srgbClr val="cae2c6"/>
            </a:solidFill>
          </a:ln>
          <a:effectLst/>
        </p:spPr>
        <p:txBody>
          <a:bodyPr wrap="square" lIns="100000" tIns="70000" rIns="100000" bIns="70000"/>
          <a:lstStyle/>
          <a:p>
            <a:pPr algn="l">
              <a:buNone/>
            </a:pPr>
            <a:r>
              <a:rPr lang="es-ES" sz="2200" b="1">
                <a:solidFill>
                  <a:srgbClr val="3f7f4a"/>
                </a:solidFill>
                <a:latin typeface="Aptos"/>
              </a:rPr>
              <a:t>En Agrivall esto se nota en cards de productos, secciones informativas y navegación.</a:t>
            </a:r>
            <a:endParaRPr lang="es-ES"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  <p:sp>
        <p:nvSpPr>
          <p:cNvPr id="2" name="TextBox 2"/>
          <p:cNvSpPr txBox="1"/>
          <p:nvPr/>
        </p:nvSpPr>
        <p:spPr>
          <a:xfrm>
            <a:off x="600000" y="380000"/>
            <a:ext cx="10000000" cy="6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0000" tIns="70000" rIns="100000" bIns="70000"/>
          <a:lstStyle/>
          <a:p>
            <a:pPr algn="l">
              <a:buNone/>
            </a:pPr>
            <a:r>
              <a:rPr lang="es-ES" sz="4000" b="1">
                <a:solidFill>
                  <a:srgbClr val="12324a"/>
                </a:solidFill>
                <a:latin typeface="Aptos"/>
              </a:rPr>
              <a:t>Responsive II: trucos prácticos</a:t>
            </a:r>
            <a:endParaRPr lang="es-ES" sz="4000"/>
          </a:p>
        </p:txBody>
      </p:sp>
      <p:sp>
        <p:nvSpPr>
          <p:cNvPr id="10" name="TextBox 10"/>
          <p:cNvSpPr txBox="1"/>
          <p:nvPr/>
        </p:nvSpPr>
        <p:spPr>
          <a:xfrm>
            <a:off x="700000" y="1450000"/>
            <a:ext cx="4800000" cy="125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1d6"/>
            </a:solidFill>
          </a:ln>
          <a:effectLst/>
        </p:spPr>
        <p:txBody>
          <a:bodyPr wrap="square" lIns="100000" tIns="70000" rIns="100000" bIns="70000"/>
          <a:lstStyle/>
          <a:p>
            <a:pPr algn="l">
              <a:buNone/>
            </a:pPr>
            <a:r>
              <a:rPr lang="es-ES" sz="2100" b="0">
                <a:solidFill>
                  <a:srgbClr val="1f2937"/>
                </a:solidFill>
                <a:latin typeface="Aptos"/>
              </a:rPr>
              <a:t>Columnas fluidas</a:t>
            </a:r>
            <a:endParaRPr lang="es-ES" sz="2100"/>
          </a:p>
          <a:p>
            <a:pPr algn="l">
              <a:buNone/>
            </a:pPr>
            <a:r>
              <a:rPr lang="es-ES" sz="2100" b="0">
                <a:solidFill>
                  <a:srgbClr val="1f2937"/>
                </a:solidFill>
                <a:latin typeface="Aptos"/>
              </a:rPr>
              <a:t>Evitar anchos fijos y usar porcentajes, grid o flex.</a:t>
            </a:r>
            <a:endParaRPr lang="es-ES" sz="2100"/>
          </a:p>
        </p:txBody>
      </p:sp>
      <p:sp>
        <p:nvSpPr>
          <p:cNvPr id="11" name="TextBox 11"/>
          <p:cNvSpPr txBox="1"/>
          <p:nvPr/>
        </p:nvSpPr>
        <p:spPr>
          <a:xfrm>
            <a:off x="6100000" y="1450000"/>
            <a:ext cx="4800000" cy="125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1d6"/>
            </a:solidFill>
          </a:ln>
          <a:effectLst/>
        </p:spPr>
        <p:txBody>
          <a:bodyPr wrap="square" lIns="100000" tIns="70000" rIns="100000" bIns="70000"/>
          <a:lstStyle/>
          <a:p>
            <a:pPr algn="l">
              <a:buNone/>
            </a:pPr>
            <a:r>
              <a:rPr lang="es-ES" sz="2100" b="0">
                <a:solidFill>
                  <a:srgbClr val="1f2937"/>
                </a:solidFill>
                <a:latin typeface="Aptos"/>
              </a:rPr>
              <a:t>Espaciado adaptable</a:t>
            </a:r>
            <a:endParaRPr lang="es-ES" sz="2100"/>
          </a:p>
          <a:p>
            <a:pPr algn="l">
              <a:buNone/>
            </a:pPr>
            <a:r>
              <a:rPr lang="es-ES" sz="2100" b="0">
                <a:solidFill>
                  <a:srgbClr val="1f2937"/>
                </a:solidFill>
                <a:latin typeface="Aptos"/>
              </a:rPr>
              <a:t>Cambiar márgenes/paddings según tamaño de pantalla.</a:t>
            </a:r>
            <a:endParaRPr lang="es-ES" sz="2100"/>
          </a:p>
        </p:txBody>
      </p:sp>
      <p:sp>
        <p:nvSpPr>
          <p:cNvPr id="12" name="TextBox 12"/>
          <p:cNvSpPr txBox="1"/>
          <p:nvPr/>
        </p:nvSpPr>
        <p:spPr>
          <a:xfrm>
            <a:off x="700000" y="3350000"/>
            <a:ext cx="4800000" cy="125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1d6"/>
            </a:solidFill>
          </a:ln>
          <a:effectLst/>
        </p:spPr>
        <p:txBody>
          <a:bodyPr wrap="square" lIns="100000" tIns="70000" rIns="100000" bIns="70000"/>
          <a:lstStyle/>
          <a:p>
            <a:pPr algn="l">
              <a:buNone/>
            </a:pPr>
            <a:r>
              <a:rPr lang="es-ES" sz="2100" b="0">
                <a:solidFill>
                  <a:srgbClr val="1f2937"/>
                </a:solidFill>
                <a:latin typeface="Aptos"/>
              </a:rPr>
              <a:t>Imágenes fluidas</a:t>
            </a:r>
            <a:endParaRPr lang="es-ES" sz="2100"/>
          </a:p>
          <a:p>
            <a:pPr algn="l">
              <a:buNone/>
            </a:pPr>
            <a:r>
              <a:rPr lang="es-ES" sz="2100" b="0">
                <a:solidFill>
                  <a:srgbClr val="1f2937"/>
                </a:solidFill>
                <a:latin typeface="Aptos"/>
              </a:rPr>
              <a:t>Impedir que una imagen rompa el contenedor.</a:t>
            </a:r>
            <a:endParaRPr lang="es-ES" sz="2100"/>
          </a:p>
        </p:txBody>
      </p:sp>
      <p:sp>
        <p:nvSpPr>
          <p:cNvPr id="13" name="TextBox 13"/>
          <p:cNvSpPr txBox="1"/>
          <p:nvPr/>
        </p:nvSpPr>
        <p:spPr>
          <a:xfrm>
            <a:off x="6100000" y="3350000"/>
            <a:ext cx="4800000" cy="125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1d6"/>
            </a:solidFill>
          </a:ln>
          <a:effectLst/>
        </p:spPr>
        <p:txBody>
          <a:bodyPr wrap="square" lIns="100000" tIns="70000" rIns="100000" bIns="70000"/>
          <a:lstStyle/>
          <a:p>
            <a:pPr algn="l">
              <a:buNone/>
            </a:pPr>
            <a:r>
              <a:rPr lang="es-ES" sz="2100" b="0">
                <a:solidFill>
                  <a:srgbClr val="1f2937"/>
                </a:solidFill>
                <a:latin typeface="Aptos"/>
              </a:rPr>
              <a:t>Tablas y navbar</a:t>
            </a:r>
            <a:endParaRPr lang="es-ES" sz="2100"/>
          </a:p>
          <a:p>
            <a:pPr algn="l">
              <a:buNone/>
            </a:pPr>
            <a:r>
              <a:rPr lang="es-ES" sz="2100" b="0">
                <a:solidFill>
                  <a:srgbClr val="1f2937"/>
                </a:solidFill>
                <a:latin typeface="Aptos"/>
              </a:rPr>
              <a:t>Usar scroll horizontal o menú colapsable cuando haga falta.</a:t>
            </a:r>
            <a:endParaRPr lang="es-ES" sz="2100"/>
          </a:p>
        </p:txBody>
      </p:sp>
      <p:sp>
        <p:nvSpPr>
          <p:cNvPr id="20" name="TextBox 20"/>
          <p:cNvSpPr txBox="1"/>
          <p:nvPr/>
        </p:nvSpPr>
        <p:spPr>
          <a:xfrm>
            <a:off x="900000" y="5550000"/>
            <a:ext cx="10100000" cy="450000"/>
          </a:xfrm>
          <a:prstGeom prst="roundRect">
            <a:avLst/>
          </a:prstGeom>
          <a:solidFill>
            <a:srgbClr val="fff8ec"/>
          </a:solidFill>
          <a:ln w="12000">
            <a:solidFill>
              <a:srgbClr val="ead9bd"/>
            </a:solidFill>
          </a:ln>
          <a:effectLst/>
        </p:spPr>
        <p:txBody>
          <a:bodyPr wrap="square" lIns="100000" tIns="70000" rIns="100000" bIns="70000"/>
          <a:lstStyle/>
          <a:p>
            <a:pPr algn="l">
              <a:buNone/>
            </a:pPr>
            <a:r>
              <a:rPr lang="es-ES" sz="2400" b="1">
                <a:solidFill>
                  <a:srgbClr val="d97706"/>
                </a:solidFill>
                <a:latin typeface="Aptos"/>
              </a:rPr>
              <a:t>Checklist final: probar en móvil real, tablet y escritorio antes de entregar.</a:t>
            </a:r>
            <a:endParaRPr lang="es-E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  <a:chOff x="0" y="0"/>
        <a:chExt cx="0" cy="0"/>
      </p:grpSpPr>
      <p:sp>
        <p:nvSpPr>
          <p:cNvPr id="2" name="TextBox 2"/>
          <p:cNvSpPr txBox="1"/>
          <p:nvPr/>
        </p:nvSpPr>
        <p:spPr>
          <a:xfrm>
            <a:off x="600000" y="380000"/>
            <a:ext cx="10000000" cy="600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100000" tIns="70000" rIns="100000" bIns="70000"/>
          <a:lstStyle/>
          <a:p>
            <a:pPr algn="l">
              <a:buNone/>
            </a:pPr>
            <a:r>
              <a:rPr lang="es-ES" sz="4000" b="1">
                <a:solidFill>
                  <a:srgbClr val="12324a"/>
                </a:solidFill>
                <a:latin typeface="Aptos"/>
              </a:rPr>
              <a:t>Futuras mejoras y conclusiones</a:t>
            </a:r>
            <a:endParaRPr lang="es-ES" sz="4000"/>
          </a:p>
        </p:txBody>
      </p:sp>
      <p:sp>
        <p:nvSpPr>
          <p:cNvPr id="3" name="TextBox 3"/>
          <p:cNvSpPr txBox="1"/>
          <p:nvPr/>
        </p:nvSpPr>
        <p:spPr>
          <a:xfrm>
            <a:off x="700000" y="1250000"/>
            <a:ext cx="5000000" cy="4700000"/>
          </a:xfrm>
          <a:prstGeom prst="roundRect">
            <a:avLst/>
          </a:prstGeom>
          <a:solidFill>
            <a:srgbClr val="ffffff"/>
          </a:solidFill>
          <a:ln w="12000">
            <a:solidFill>
              <a:srgbClr val="d8e1d6"/>
            </a:solidFill>
          </a:ln>
          <a:effectLst/>
        </p:spPr>
        <p:txBody>
          <a:bodyPr wrap="square" lIns="100000" tIns="70000" rIns="100000" bIns="70000"/>
          <a:lstStyle/>
          <a:p>
            <a:pPr algn="l" marL="260000" indent="-160000">
              <a:buChar char="•"/>
            </a:pPr>
            <a:r>
              <a:rPr lang="es-ES" sz="2000" b="0">
                <a:solidFill>
                  <a:srgbClr val="1f2937"/>
                </a:solidFill>
                <a:latin typeface="Aptos"/>
              </a:rPr>
              <a:t>Futura mejora: añadir stock</a:t>
            </a:r>
            <a:endParaRPr lang="es-ES" sz="2000"/>
          </a:p>
          <a:p>
            <a:pPr algn="l" marL="260000" indent="-160000">
              <a:buChar char="•"/>
            </a:pPr>
            <a:r>
              <a:rPr lang="es-ES" sz="2000" b="0">
                <a:solidFill>
                  <a:srgbClr val="1f2937"/>
                </a:solidFill>
                <a:latin typeface="Aptos"/>
              </a:rPr>
              <a:t>Mostrar existencias disponibles por producto</a:t>
            </a:r>
            <a:endParaRPr lang="es-ES" sz="2000"/>
          </a:p>
          <a:p>
            <a:pPr algn="l" marL="260000" indent="-160000">
              <a:buChar char="•"/>
            </a:pPr>
            <a:r>
              <a:rPr lang="es-ES" sz="2000" b="0">
                <a:solidFill>
                  <a:srgbClr val="1f2937"/>
                </a:solidFill>
                <a:latin typeface="Aptos"/>
              </a:rPr>
              <a:t>Actualizar stock automáticamente tras cada pedido</a:t>
            </a:r>
            <a:endParaRPr lang="es-ES" sz="2000"/>
          </a:p>
          <a:p>
            <a:pPr algn="l" marL="260000" indent="-160000">
              <a:buChar char="•"/>
            </a:pPr>
            <a:r>
              <a:rPr lang="es-ES" sz="2000" b="0">
                <a:solidFill>
                  <a:srgbClr val="1f2937"/>
                </a:solidFill>
                <a:latin typeface="Aptos"/>
              </a:rPr>
              <a:t>Avisar si un producto está agotado</a:t>
            </a:r>
            <a:endParaRPr lang="es-ES" sz="2000"/>
          </a:p>
          <a:p>
            <a:pPr algn="l" marL="260000" indent="-160000">
              <a:buChar char="•"/>
            </a:pPr>
            <a:r>
              <a:rPr lang="es-ES" sz="2000" b="0">
                <a:solidFill>
                  <a:srgbClr val="1f2937"/>
                </a:solidFill>
                <a:latin typeface="Aptos"/>
              </a:rPr>
              <a:t>Reducir errores y mejorar la información al cliente</a:t>
            </a:r>
            <a:endParaRPr lang="es-ES" sz="2000"/>
          </a:p>
        </p:txBody>
      </p:sp>
      <p:sp>
        <p:nvSpPr>
          <p:cNvPr id="4" name="TextBox 4"/>
          <p:cNvSpPr txBox="1"/>
          <p:nvPr/>
        </p:nvSpPr>
        <p:spPr>
          <a:xfrm>
            <a:off x="6300000" y="1250000"/>
            <a:ext cx="4900000" cy="4700000"/>
          </a:xfrm>
          <a:prstGeom prst="roundRect">
            <a:avLst/>
          </a:prstGeom>
          <a:solidFill>
            <a:srgbClr val="eef7ed"/>
          </a:solidFill>
          <a:ln w="12000">
            <a:solidFill>
              <a:srgbClr val="cae2c6"/>
            </a:solidFill>
          </a:ln>
          <a:effectLst/>
        </p:spPr>
        <p:txBody>
          <a:bodyPr wrap="square" lIns="100000" tIns="70000" rIns="100000" bIns="70000"/>
          <a:lstStyle/>
          <a:p>
            <a:pPr algn="l" marL="260000" indent="-160000">
              <a:buChar char="•"/>
            </a:pPr>
            <a:r>
              <a:rPr lang="es-ES" sz="2000" b="0">
                <a:solidFill>
                  <a:srgbClr val="1f2937"/>
                </a:solidFill>
                <a:latin typeface="Aptos"/>
              </a:rPr>
              <a:t>Conclusiones</a:t>
            </a:r>
            <a:endParaRPr lang="es-ES" sz="2000"/>
          </a:p>
          <a:p>
            <a:pPr algn="l" marL="260000" indent="-160000">
              <a:buChar char="•"/>
            </a:pPr>
            <a:r>
              <a:rPr lang="es-ES" sz="2000" b="0">
                <a:solidFill>
                  <a:srgbClr val="1f2937"/>
                </a:solidFill>
                <a:latin typeface="Aptos"/>
              </a:rPr>
              <a:t>Agrivall cumple el objetivo de web funcional y responsive</a:t>
            </a:r>
            <a:endParaRPr lang="es-ES" sz="2000"/>
          </a:p>
          <a:p>
            <a:pPr algn="l" marL="260000" indent="-160000">
              <a:buChar char="•"/>
            </a:pPr>
            <a:r>
              <a:rPr lang="es-ES" sz="2000" b="0">
                <a:solidFill>
                  <a:srgbClr val="1f2937"/>
                </a:solidFill>
                <a:latin typeface="Aptos"/>
              </a:rPr>
              <a:t>Integra frontend, backend y administración</a:t>
            </a:r>
            <a:endParaRPr lang="es-ES" sz="2000"/>
          </a:p>
          <a:p>
            <a:pPr algn="l" marL="260000" indent="-160000">
              <a:buChar char="•"/>
            </a:pPr>
            <a:r>
              <a:rPr lang="es-ES" sz="2000" b="0">
                <a:solidFill>
                  <a:srgbClr val="1f2937"/>
                </a:solidFill>
                <a:latin typeface="Aptos"/>
              </a:rPr>
              <a:t>Tiene una estructura realista de aplicación web</a:t>
            </a:r>
            <a:endParaRPr lang="es-ES" sz="2000"/>
          </a:p>
          <a:p>
            <a:pPr algn="l" marL="260000" indent="-160000">
              <a:buChar char="•"/>
            </a:pPr>
            <a:r>
              <a:rPr lang="es-ES" sz="2000" b="0">
                <a:solidFill>
                  <a:srgbClr val="1f2937"/>
                </a:solidFill>
                <a:latin typeface="Aptos"/>
              </a:rPr>
              <a:t>Puede evolucionar hacia una tienda online más completa</a:t>
            </a:r>
            <a:endParaRPr lang="es-ES" sz="20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0000" y="4650000"/>
            <a:ext cx="2000000" cy="1125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Widescreen</PresentationFormat>
  <Slides>6</Slides>
  <Notes>0</Not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final Agrivall</dc:title>
  <dc:creator>OpenAI Codex</dc:creator>
  <cp:lastModifiedBy>OpenAI Codex</cp:lastModifiedBy>
  <dcterms:created xsi:type="dcterms:W3CDTF">2026-06-07T19:49:18.439319Z</dcterms:created>
  <dcterms:modified xsi:type="dcterms:W3CDTF">2026-06-07T19:49:18.439319Z</dcterms:modified>
</cp:coreProperties>
</file>